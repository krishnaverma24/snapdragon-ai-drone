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Inter SemiBold"/>
      <p:regular r:id="rId11"/>
      <p:bold r:id="rId12"/>
      <p:italic r:id="rId13"/>
      <p:boldItalic r:id="rId14"/>
    </p:embeddedFont>
    <p:embeddedFont>
      <p:font typeface="Inter"/>
      <p:bold r:id="rId15"/>
      <p:boldItalic r:id="rId16"/>
    </p:embeddedFont>
    <p:embeddedFont>
      <p:font typeface="Inter ExtraBold"/>
      <p:bold r:id="rId17"/>
      <p:boldItalic r:id="rId18"/>
    </p:embeddedFont>
    <p:embeddedFont>
      <p:font typeface="Inter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bold.fntdata"/><Relationship Id="rId11" Type="http://schemas.openxmlformats.org/officeDocument/2006/relationships/font" Target="fonts/InterSemiBold-regular.fntdata"/><Relationship Id="rId22" Type="http://schemas.openxmlformats.org/officeDocument/2006/relationships/font" Target="fonts/Inter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Medium-italic.fntdata"/><Relationship Id="rId13" Type="http://schemas.openxmlformats.org/officeDocument/2006/relationships/font" Target="fonts/InterSemiBold-italic.fntdata"/><Relationship Id="rId12" Type="http://schemas.openxmlformats.org/officeDocument/2006/relationships/font" Target="fonts/Inter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SemiBold-boldItalic.fntdata"/><Relationship Id="rId17" Type="http://schemas.openxmlformats.org/officeDocument/2006/relationships/font" Target="fonts/InterExtraBold-bold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Medium-regular.fntdata"/><Relationship Id="rId6" Type="http://schemas.openxmlformats.org/officeDocument/2006/relationships/slide" Target="slides/slide1.xml"/><Relationship Id="rId18" Type="http://schemas.openxmlformats.org/officeDocument/2006/relationships/font" Target="fonts/Inter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1e9bb4f88e8701a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1e9bb4f88e8701a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1e9bb4f88e8701a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1e9bb4f88e8701a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1e9bb4f88e8701a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1e9bb4f88e8701a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1e9bb4f88e8701a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1e9bb4f88e8701a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952500" y="-1809750"/>
            <a:ext cx="11715750" cy="8001000"/>
            <a:chOff x="-952500" y="-1809750"/>
            <a:chExt cx="11715750" cy="8001000"/>
          </a:xfrm>
        </p:grpSpPr>
        <p:sp>
          <p:nvSpPr>
            <p:cNvPr id="55" name="Google Shape;55;p13"/>
            <p:cNvSpPr/>
            <p:nvPr/>
          </p:nvSpPr>
          <p:spPr>
            <a:xfrm>
              <a:off x="5429250" y="-1809750"/>
              <a:ext cx="5334000" cy="5334000"/>
            </a:xfrm>
            <a:prstGeom prst="ellipse">
              <a:avLst/>
            </a:prstGeom>
            <a:solidFill>
              <a:srgbClr val="38BDF8">
                <a:alpha val="4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-952500" y="2381250"/>
              <a:ext cx="3810000" cy="3810000"/>
            </a:xfrm>
            <a:prstGeom prst="ellipse">
              <a:avLst/>
            </a:prstGeom>
            <a:solidFill>
              <a:srgbClr val="818CF8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7" name="Google Shape;57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24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820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13"/>
          <p:cNvSpPr txBox="1"/>
          <p:nvPr/>
        </p:nvSpPr>
        <p:spPr>
          <a:xfrm>
            <a:off x="762000" y="952500"/>
            <a:ext cx="762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Overview</a:t>
            </a:r>
            <a:endParaRPr b="0" sz="1300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Snapdragon Edge-Compute Ground Station Architecture</a:t>
            </a:r>
            <a:endParaRPr b="0" sz="36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for Autonomous Unmanned Aerial Vehicles</a:t>
            </a:r>
            <a:endParaRPr b="0" sz="20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0" name="Google Shape;60;p13"/>
          <p:cNvGrpSpPr/>
          <p:nvPr/>
        </p:nvGrpSpPr>
        <p:grpSpPr>
          <a:xfrm>
            <a:off x="762000" y="3143250"/>
            <a:ext cx="7620000" cy="1238400"/>
            <a:chOff x="0" y="0"/>
            <a:chExt cx="7620000" cy="1238400"/>
          </a:xfrm>
        </p:grpSpPr>
        <p:sp>
          <p:nvSpPr>
            <p:cNvPr id="61" name="Google Shape;61;p13"/>
            <p:cNvSpPr/>
            <p:nvPr/>
          </p:nvSpPr>
          <p:spPr>
            <a:xfrm>
              <a:off x="0" y="0"/>
              <a:ext cx="7620000" cy="1238400"/>
            </a:xfrm>
            <a:prstGeom prst="roundRect">
              <a:avLst>
                <a:gd fmla="val 12307" name="adj"/>
              </a:avLst>
            </a:prstGeom>
            <a:solidFill>
              <a:srgbClr val="131C2E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0" y="0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 txBox="1"/>
            <p:nvPr/>
          </p:nvSpPr>
          <p:spPr>
            <a:xfrm>
              <a:off x="304800" y="228600"/>
              <a:ext cx="7010400" cy="7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Vision</a:t>
              </a:r>
              <a:endParaRPr b="1" sz="12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Offloading intensive AI visual processing from drones to a Snapdragon NPU to enable offline, zero-latency edge computing.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457200" y="381000"/>
            <a:ext cx="82296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Operational Bottlenecks</a:t>
            </a:r>
            <a:endParaRPr b="0" i="0" sz="1200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 b="0" i="0" sz="1200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69" name="Google Shape;69;p14"/>
          <p:cNvGrpSpPr/>
          <p:nvPr/>
        </p:nvGrpSpPr>
        <p:grpSpPr>
          <a:xfrm>
            <a:off x="457200" y="1285875"/>
            <a:ext cx="2514600" cy="3286200"/>
            <a:chOff x="0" y="0"/>
            <a:chExt cx="2514600" cy="3286200"/>
          </a:xfrm>
        </p:grpSpPr>
        <p:sp>
          <p:nvSpPr>
            <p:cNvPr id="70" name="Google Shape;70;p14"/>
            <p:cNvSpPr/>
            <p:nvPr/>
          </p:nvSpPr>
          <p:spPr>
            <a:xfrm>
              <a:off x="0" y="0"/>
              <a:ext cx="2514600" cy="3286200"/>
            </a:xfrm>
            <a:prstGeom prst="roundRect">
              <a:avLst>
                <a:gd fmla="val 6060" name="adj"/>
              </a:avLst>
            </a:prstGeom>
            <a:solidFill>
              <a:srgbClr val="131C2E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228600" y="285750"/>
              <a:ext cx="2057400" cy="2714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2400">
                  <a:solidFill>
                    <a:srgbClr val="F43F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monitor_weight</a:t>
              </a:r>
              <a:endParaRPr b="0" i="0" sz="2400">
                <a:solidFill>
                  <a:srgbClr val="F43F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1" i="0" lang="en-GB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Payload Limitations</a:t>
              </a:r>
              <a:endParaRPr b="0" i="0" sz="1800">
                <a:solidFill>
                  <a:srgbClr val="F43F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0" i="0" lang="en-GB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Drones are incapable of carrying heavy processors required for advanced artificial intelligence.</a:t>
              </a:r>
              <a:endParaRPr b="0" i="0" sz="1100">
                <a:solidFill>
                  <a:srgbClr val="F43F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73" name="Google Shape;73;p14"/>
          <p:cNvGrpSpPr/>
          <p:nvPr/>
        </p:nvGrpSpPr>
        <p:grpSpPr>
          <a:xfrm>
            <a:off x="3314700" y="1285875"/>
            <a:ext cx="2514600" cy="3286200"/>
            <a:chOff x="0" y="0"/>
            <a:chExt cx="2514600" cy="3286200"/>
          </a:xfrm>
        </p:grpSpPr>
        <p:sp>
          <p:nvSpPr>
            <p:cNvPr id="74" name="Google Shape;74;p14"/>
            <p:cNvSpPr/>
            <p:nvPr/>
          </p:nvSpPr>
          <p:spPr>
            <a:xfrm>
              <a:off x="0" y="0"/>
              <a:ext cx="2514600" cy="3286200"/>
            </a:xfrm>
            <a:prstGeom prst="roundRect">
              <a:avLst>
                <a:gd fmla="val 6060" name="adj"/>
              </a:avLst>
            </a:prstGeom>
            <a:solidFill>
              <a:srgbClr val="131C2E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228600" y="285750"/>
              <a:ext cx="2057400" cy="2714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cloud_off</a:t>
              </a:r>
              <a:endParaRPr b="0" i="0"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1" i="0" lang="en-GB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Cloud Dependency</a:t>
              </a:r>
              <a:endParaRPr b="0" i="0" sz="18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0" i="0" lang="en-GB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Streaming live video to the cloud introduces critical latency risks.</a:t>
              </a:r>
              <a:endParaRPr b="0" i="0" sz="11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77" name="Google Shape;77;p14"/>
          <p:cNvGrpSpPr/>
          <p:nvPr/>
        </p:nvGrpSpPr>
        <p:grpSpPr>
          <a:xfrm>
            <a:off x="6172200" y="1285875"/>
            <a:ext cx="2514600" cy="3286200"/>
            <a:chOff x="0" y="0"/>
            <a:chExt cx="2514600" cy="3286200"/>
          </a:xfrm>
        </p:grpSpPr>
        <p:sp>
          <p:nvSpPr>
            <p:cNvPr id="78" name="Google Shape;78;p14"/>
            <p:cNvSpPr/>
            <p:nvPr/>
          </p:nvSpPr>
          <p:spPr>
            <a:xfrm>
              <a:off x="0" y="0"/>
              <a:ext cx="2514600" cy="3286200"/>
            </a:xfrm>
            <a:prstGeom prst="roundRect">
              <a:avLst>
                <a:gd fmla="val 6060" name="adj"/>
              </a:avLst>
            </a:prstGeom>
            <a:solidFill>
              <a:srgbClr val="131C2E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818C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228600" y="285750"/>
              <a:ext cx="2057400" cy="2714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2400">
                  <a:solidFill>
                    <a:srgbClr val="818C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wifi_off</a:t>
              </a:r>
              <a:endParaRPr b="0" i="0" sz="240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1" i="0" lang="en-GB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Remote Operations</a:t>
              </a:r>
              <a:endParaRPr b="0" i="0" sz="180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0" i="0" lang="en-GB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Cloud-based artificial intelligence fails in remote environments lacking internet connectivity.</a:t>
              </a:r>
              <a:endParaRPr b="0" i="0" sz="110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/>
        </p:nvSpPr>
        <p:spPr>
          <a:xfrm>
            <a:off x="457200" y="381000"/>
            <a:ext cx="8229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2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Architecture</a:t>
            </a:r>
            <a:endParaRPr b="0" sz="1200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Solution</a:t>
            </a:r>
            <a:endParaRPr b="1" sz="2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6" name="Google Shape;86;p15"/>
          <p:cNvGrpSpPr/>
          <p:nvPr/>
        </p:nvGrpSpPr>
        <p:grpSpPr>
          <a:xfrm>
            <a:off x="457200" y="1285875"/>
            <a:ext cx="2514600" cy="3286200"/>
            <a:chOff x="0" y="0"/>
            <a:chExt cx="2514600" cy="3286200"/>
          </a:xfrm>
        </p:grpSpPr>
        <p:sp>
          <p:nvSpPr>
            <p:cNvPr id="87" name="Google Shape;87;p15"/>
            <p:cNvSpPr/>
            <p:nvPr/>
          </p:nvSpPr>
          <p:spPr>
            <a:xfrm>
              <a:off x="0" y="0"/>
              <a:ext cx="2514600" cy="3286200"/>
            </a:xfrm>
            <a:prstGeom prst="roundRect">
              <a:avLst>
                <a:gd fmla="val 6060" name="adj"/>
              </a:avLst>
            </a:prstGeom>
            <a:solidFill>
              <a:srgbClr val="131C2E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228600" y="285750"/>
              <a:ext cx="2057400" cy="27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b="0"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Snapdragon AI Brain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personal computer locally processes the live camera feed from the drone.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314700" y="1285875"/>
            <a:ext cx="2514600" cy="3286200"/>
            <a:chOff x="0" y="0"/>
            <a:chExt cx="2514600" cy="3286200"/>
          </a:xfrm>
        </p:grpSpPr>
        <p:sp>
          <p:nvSpPr>
            <p:cNvPr id="91" name="Google Shape;91;p15"/>
            <p:cNvSpPr/>
            <p:nvPr/>
          </p:nvSpPr>
          <p:spPr>
            <a:xfrm>
              <a:off x="0" y="0"/>
              <a:ext cx="2514600" cy="3286200"/>
            </a:xfrm>
            <a:prstGeom prst="roundRect">
              <a:avLst>
                <a:gd fmla="val 6060" name="adj"/>
              </a:avLst>
            </a:prstGeom>
            <a:solidFill>
              <a:srgbClr val="131C2E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228600" y="285750"/>
              <a:ext cx="2057400" cy="27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wifi_off</a:t>
              </a:r>
              <a:endParaRPr b="0"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Offline Processing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NPU instantly analyzes frames without requiring a Wi-Fi connection.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4" name="Google Shape;94;p15"/>
          <p:cNvGrpSpPr/>
          <p:nvPr/>
        </p:nvGrpSpPr>
        <p:grpSpPr>
          <a:xfrm>
            <a:off x="6172200" y="1285875"/>
            <a:ext cx="2514600" cy="3286200"/>
            <a:chOff x="0" y="0"/>
            <a:chExt cx="2514600" cy="3286200"/>
          </a:xfrm>
        </p:grpSpPr>
        <p:sp>
          <p:nvSpPr>
            <p:cNvPr id="95" name="Google Shape;95;p15"/>
            <p:cNvSpPr/>
            <p:nvPr/>
          </p:nvSpPr>
          <p:spPr>
            <a:xfrm>
              <a:off x="0" y="0"/>
              <a:ext cx="2514600" cy="3286200"/>
            </a:xfrm>
            <a:prstGeom prst="roundRect">
              <a:avLst>
                <a:gd fmla="val 6060" name="adj"/>
              </a:avLst>
            </a:prstGeom>
            <a:solidFill>
              <a:srgbClr val="131C2E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818C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228600" y="285750"/>
              <a:ext cx="2057400" cy="27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818C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router</a:t>
              </a:r>
              <a:endParaRPr b="0" sz="240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Hardware Bridge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computer transmits lightweight telemetry commands, such as "hover," back to the drone.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6"/>
          <p:cNvGrpSpPr/>
          <p:nvPr/>
        </p:nvGrpSpPr>
        <p:grpSpPr>
          <a:xfrm>
            <a:off x="457200" y="381000"/>
            <a:ext cx="8229600" cy="666900"/>
            <a:chOff x="0" y="0"/>
            <a:chExt cx="8229600" cy="666900"/>
          </a:xfrm>
        </p:grpSpPr>
        <p:sp>
          <p:nvSpPr>
            <p:cNvPr id="103" name="Google Shape;103;p16"/>
            <p:cNvSpPr/>
            <p:nvPr/>
          </p:nvSpPr>
          <p:spPr>
            <a:xfrm>
              <a:off x="0" y="0"/>
              <a:ext cx="82296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0" y="0"/>
              <a:ext cx="82296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Overview</a:t>
              </a:r>
              <a:endParaRPr b="0" sz="12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GB" sz="2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Technical Architecture</a:t>
              </a:r>
              <a:endParaRPr b="1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5" name="Google Shape;105;p16"/>
          <p:cNvGrpSpPr/>
          <p:nvPr/>
        </p:nvGrpSpPr>
        <p:grpSpPr>
          <a:xfrm>
            <a:off x="457200" y="1285875"/>
            <a:ext cx="2514600" cy="3286200"/>
            <a:chOff x="0" y="0"/>
            <a:chExt cx="2514600" cy="3286200"/>
          </a:xfrm>
        </p:grpSpPr>
        <p:sp>
          <p:nvSpPr>
            <p:cNvPr id="106" name="Google Shape;106;p16"/>
            <p:cNvSpPr/>
            <p:nvPr/>
          </p:nvSpPr>
          <p:spPr>
            <a:xfrm>
              <a:off x="0" y="0"/>
              <a:ext cx="2514600" cy="3286200"/>
            </a:xfrm>
            <a:prstGeom prst="roundRect">
              <a:avLst>
                <a:gd fmla="val 6060" name="adj"/>
              </a:avLst>
            </a:prstGeom>
            <a:solidFill>
              <a:srgbClr val="131C2E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228600" y="285750"/>
              <a:ext cx="2057400" cy="27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b="0"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Model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Utilizes YOLO object detection sourced from the Qualcomm AI Hub.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9" name="Google Shape;109;p16"/>
          <p:cNvGrpSpPr/>
          <p:nvPr/>
        </p:nvGrpSpPr>
        <p:grpSpPr>
          <a:xfrm>
            <a:off x="3314700" y="1285875"/>
            <a:ext cx="2514600" cy="3286200"/>
            <a:chOff x="0" y="0"/>
            <a:chExt cx="2514600" cy="3286200"/>
          </a:xfrm>
        </p:grpSpPr>
        <p:sp>
          <p:nvSpPr>
            <p:cNvPr id="110" name="Google Shape;110;p16"/>
            <p:cNvSpPr/>
            <p:nvPr/>
          </p:nvSpPr>
          <p:spPr>
            <a:xfrm>
              <a:off x="0" y="0"/>
              <a:ext cx="2514600" cy="3286200"/>
            </a:xfrm>
            <a:prstGeom prst="roundRect">
              <a:avLst>
                <a:gd fmla="val 6060" name="adj"/>
              </a:avLst>
            </a:prstGeom>
            <a:solidFill>
              <a:srgbClr val="131C2E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228600" y="285750"/>
              <a:ext cx="2057400" cy="27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b="0"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Acceleration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Executes on the Snapdragon Hexagon NPU via the ONNX Runtime.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6172200" y="1285875"/>
            <a:ext cx="2514600" cy="3286200"/>
            <a:chOff x="0" y="0"/>
            <a:chExt cx="2514600" cy="3286200"/>
          </a:xfrm>
        </p:grpSpPr>
        <p:sp>
          <p:nvSpPr>
            <p:cNvPr id="114" name="Google Shape;114;p16"/>
            <p:cNvSpPr/>
            <p:nvPr/>
          </p:nvSpPr>
          <p:spPr>
            <a:xfrm>
              <a:off x="0" y="0"/>
              <a:ext cx="2514600" cy="3286200"/>
            </a:xfrm>
            <a:prstGeom prst="roundRect">
              <a:avLst>
                <a:gd fmla="val 6060" name="adj"/>
              </a:avLst>
            </a:prstGeom>
            <a:solidFill>
              <a:srgbClr val="131C2E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818C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228600" y="285750"/>
              <a:ext cx="2057400" cy="27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818C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b="0" sz="240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Integration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Employs a Python serial bridge to interface the artificial intelligence with physical radio modules.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457200" y="381000"/>
            <a:ext cx="8229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2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Capabilities</a:t>
            </a:r>
            <a:endParaRPr b="0" sz="1200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Impact &amp; Innovation</a:t>
            </a:r>
            <a:endParaRPr b="1" sz="2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2" name="Google Shape;122;p17"/>
          <p:cNvGrpSpPr/>
          <p:nvPr/>
        </p:nvGrpSpPr>
        <p:grpSpPr>
          <a:xfrm>
            <a:off x="457200" y="1285875"/>
            <a:ext cx="2514600" cy="3286200"/>
            <a:chOff x="0" y="0"/>
            <a:chExt cx="2514600" cy="3286200"/>
          </a:xfrm>
        </p:grpSpPr>
        <p:sp>
          <p:nvSpPr>
            <p:cNvPr id="123" name="Google Shape;123;p17"/>
            <p:cNvSpPr/>
            <p:nvPr/>
          </p:nvSpPr>
          <p:spPr>
            <a:xfrm>
              <a:off x="0" y="0"/>
              <a:ext cx="2514600" cy="3286200"/>
            </a:xfrm>
            <a:prstGeom prst="roundRect">
              <a:avLst>
                <a:gd fmla="val 6060" name="adj"/>
              </a:avLst>
            </a:prstGeom>
            <a:solidFill>
              <a:srgbClr val="131C2E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17"/>
          <p:cNvGrpSpPr/>
          <p:nvPr/>
        </p:nvGrpSpPr>
        <p:grpSpPr>
          <a:xfrm>
            <a:off x="3314700" y="1285875"/>
            <a:ext cx="2514600" cy="3286200"/>
            <a:chOff x="0" y="0"/>
            <a:chExt cx="2514600" cy="3286200"/>
          </a:xfrm>
        </p:grpSpPr>
        <p:sp>
          <p:nvSpPr>
            <p:cNvPr id="126" name="Google Shape;126;p17"/>
            <p:cNvSpPr/>
            <p:nvPr/>
          </p:nvSpPr>
          <p:spPr>
            <a:xfrm>
              <a:off x="0" y="0"/>
              <a:ext cx="2514600" cy="3286200"/>
            </a:xfrm>
            <a:prstGeom prst="roundRect">
              <a:avLst>
                <a:gd fmla="val 6060" name="adj"/>
              </a:avLst>
            </a:prstGeom>
            <a:solidFill>
              <a:srgbClr val="131C2E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" name="Google Shape;128;p17"/>
          <p:cNvGrpSpPr/>
          <p:nvPr/>
        </p:nvGrpSpPr>
        <p:grpSpPr>
          <a:xfrm>
            <a:off x="6172200" y="1285875"/>
            <a:ext cx="2514600" cy="3286200"/>
            <a:chOff x="0" y="0"/>
            <a:chExt cx="2514600" cy="3286200"/>
          </a:xfrm>
        </p:grpSpPr>
        <p:sp>
          <p:nvSpPr>
            <p:cNvPr id="129" name="Google Shape;129;p17"/>
            <p:cNvSpPr/>
            <p:nvPr/>
          </p:nvSpPr>
          <p:spPr>
            <a:xfrm>
              <a:off x="0" y="0"/>
              <a:ext cx="2514600" cy="3286200"/>
            </a:xfrm>
            <a:prstGeom prst="roundRect">
              <a:avLst>
                <a:gd fmla="val 6060" name="adj"/>
              </a:avLst>
            </a:prstGeom>
            <a:solidFill>
              <a:srgbClr val="131C2E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818C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17"/>
          <p:cNvSpPr txBox="1"/>
          <p:nvPr/>
        </p:nvSpPr>
        <p:spPr>
          <a:xfrm>
            <a:off x="685800" y="1571625"/>
            <a:ext cx="20574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bolt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Energy Efficient</a:t>
            </a:r>
            <a:endParaRPr b="1" sz="1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Minimizes power consumption to maintain an extremely lightweight drone profile.</a:t>
            </a:r>
            <a:endParaRPr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3543300" y="1571625"/>
            <a:ext cx="20574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speed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Zero Latency</a:t>
            </a:r>
            <a:endParaRPr b="1" sz="1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Enables real-time obstacle avoidance through entirely offline processing.</a:t>
            </a:r>
            <a:endParaRPr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6400800" y="1571625"/>
            <a:ext cx="20574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memory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True Edge Computing</a:t>
            </a:r>
            <a:endParaRPr b="1" sz="1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Demonstrates the capability of Snapdragon PCs to seamlessly control physical robotics.</a:t>
            </a:r>
            <a:endParaRPr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